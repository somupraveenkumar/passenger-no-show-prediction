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48.png"/><Relationship Id="rId4" Type="http://schemas.openxmlformats.org/officeDocument/2006/relationships/image" Target="../media/image17.png"/><Relationship Id="rId5" Type="http://schemas.openxmlformats.org/officeDocument/2006/relationships/image" Target="../media/image4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54.png"/><Relationship Id="rId7" Type="http://schemas.openxmlformats.org/officeDocument/2006/relationships/image" Target="../media/image5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11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8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066CC"/>
            </a:gs>
            <a:gs pos="100000">
              <a:srgbClr val="004C99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6733" y="1085850"/>
            <a:ext cx="7410264" cy="25622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4355"/>
              </a:lnSpc>
              <a:spcBef>
                <a:spcPts val="0"/>
              </a:spcBef>
              <a:spcAft>
                <a:spcPts val="1950"/>
              </a:spcAft>
            </a:pPr>
            <a:r>
              <a:rPr sz="3348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Predict Passenger Booking Cancellations using Historical Travel and Booking Data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666733" y="4736782"/>
            <a:ext cx="228594" cy="1657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24" y="4686300"/>
            <a:ext cx="3086022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Annapareddy Somu Praveen Kumar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4467113" y="473106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10004" y="4686300"/>
            <a:ext cx="1066773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B.Tech (ECE)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80000"/>
          </a:blip>
          <a:stretch>
            <a:fillRect/>
          </a:stretch>
        </p:blipFill>
        <p:spPr>
          <a:xfrm>
            <a:off x="666733" y="5164455"/>
            <a:ext cx="228594" cy="2057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09624" y="5133975"/>
            <a:ext cx="247643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Lovely Professional University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58008" y="2095499"/>
            <a:ext cx="2666933" cy="2667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"/>
            </a:srgbClr>
          </a:solidFill>
          <a:ln w="1651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90000"/>
          </a:blip>
          <a:stretch>
            <a:fillRect/>
          </a:stretch>
        </p:blipFill>
        <p:spPr>
          <a:xfrm>
            <a:off x="9610484" y="2816327"/>
            <a:ext cx="761980" cy="5776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96167" y="3676649"/>
            <a:ext cx="138109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Machine Learning</a:t>
            </a:r>
            <a:r>
              <a:rPr sz="1104"/>
              <a:t>
</a:t>
            </a:r>
            <a:r>
              <a:rPr sz="95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Predictive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69131"/>
            <a:ext cx="228594" cy="18573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466849"/>
            <a:ext cx="5190995" cy="1581149"/>
          </a:xfrm>
          <a:prstGeom prst="roundRect">
            <a:avLst>
              <a:gd name="adj" fmla="val 1807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41291" y="2174873"/>
            <a:ext cx="158114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099" y="1805815"/>
            <a:ext cx="266693" cy="2174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0099" y="2209800"/>
            <a:ext cx="4571885" cy="5524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Predicting passenger booking cancellations to enable proactive resource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6733" y="3286125"/>
            <a:ext cx="5190995" cy="2819399"/>
          </a:xfrm>
          <a:prstGeom prst="roundRect">
            <a:avLst>
              <a:gd name="adj" fmla="val 1013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 rot="16200000">
            <a:off x="-660416" y="4613274"/>
            <a:ext cx="28193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3651802"/>
            <a:ext cx="266693" cy="1449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0099" y="4029075"/>
            <a:ext cx="4571885" cy="4476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107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 Revenue loss due to unpredictable cancellations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0099" y="4186517"/>
            <a:ext cx="190495" cy="123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0099" y="4476750"/>
            <a:ext cx="4571885" cy="4476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107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 Inefficient resource allocation and planning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0099" y="4634192"/>
            <a:ext cx="190495" cy="12326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0099" y="4924424"/>
            <a:ext cx="4571885" cy="4476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107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 Reduced operational efficiency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0099" y="5081867"/>
            <a:ext cx="190495" cy="1232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099" y="5372100"/>
            <a:ext cx="4571885" cy="447675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4"/>
              <a:t>  </a:t>
            </a:r>
            <a:r>
              <a:rPr sz="107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 Customer service challenges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00099" y="5529542"/>
            <a:ext cx="190495" cy="123264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219769" y="1543050"/>
            <a:ext cx="3419389" cy="4714875"/>
          </a:xfrm>
          <a:prstGeom prst="roundRect">
            <a:avLst>
              <a:gd name="adj" fmla="val 11142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81750" y="1924049"/>
            <a:ext cx="1904952" cy="523874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81750" y="1924049"/>
            <a:ext cx="1904952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Booking Made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38979" y="2647949"/>
            <a:ext cx="1904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92" b="0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81750" y="3409950"/>
            <a:ext cx="1904952" cy="523874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1750" y="3409950"/>
            <a:ext cx="1904952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Cancellation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38979" y="4114800"/>
            <a:ext cx="19049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92" b="0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72225" y="4876800"/>
            <a:ext cx="1904952" cy="523874"/>
          </a:xfrm>
          <a:prstGeom prst="roundRect">
            <a:avLst>
              <a:gd name="adj" fmla="val 36363"/>
            </a:avLst>
          </a:prstGeom>
          <a:gradFill rotWithShape="1">
            <a:gsLst>
              <a:gs pos="0">
                <a:srgbClr val="FF6B6B"/>
              </a:gs>
              <a:gs pos="100000">
                <a:srgbClr val="EE5A52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72225" y="4876800"/>
            <a:ext cx="1904952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Loss of Resources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0759" y="5600700"/>
            <a:ext cx="265740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1300"/>
              </a:spcBef>
              <a:spcAft>
                <a:spcPts val="0"/>
              </a:spcAft>
            </a:pPr>
            <a:r>
              <a:rPr sz="1196" b="1">
                <a:solidFill>
                  <a:srgbClr val="FF6B6B"/>
                </a:solidFill>
                <a:latin typeface="Poppins"/>
                <a:rFonts ascii="Poppins" hAnsi="Poppins" eastAsia="Poppins" cs="Poppins"/>
              </a:rPr>
              <a:t>Need for Predictive Solution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76274"/>
            <a:ext cx="228594" cy="17145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523999"/>
            <a:ext cx="3362240" cy="4857750"/>
          </a:xfrm>
          <a:prstGeom prst="roundRect">
            <a:avLst>
              <a:gd name="adj" fmla="val 11331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62100" y="1952624"/>
            <a:ext cx="781030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300"/>
              </a:spcAft>
            </a:pPr>
            <a:r>
              <a:rPr sz="4784" b="1">
                <a:solidFill>
                  <a:srgbClr val="E3EDF7"/>
                </a:solidFill>
                <a:latin typeface="Poppins"/>
                <a:rFonts ascii="Poppins" hAnsi="Poppins" eastAsia="Poppins" cs="Poppins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76378" y="2905124"/>
            <a:ext cx="952476" cy="9524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114497" y="3197506"/>
            <a:ext cx="476238" cy="36773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4872" y="4143375"/>
            <a:ext cx="248596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Predict Cancellations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476" y="4667249"/>
            <a:ext cx="2790755" cy="819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Develop ML model to forecast booking cancellations with high 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9964" y="1523999"/>
            <a:ext cx="3362240" cy="4857750"/>
          </a:xfrm>
          <a:prstGeom prst="roundRect">
            <a:avLst>
              <a:gd name="adj" fmla="val 11331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9134" y="1952624"/>
            <a:ext cx="933426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300"/>
              </a:spcAft>
            </a:pPr>
            <a:r>
              <a:rPr sz="4784" b="1">
                <a:solidFill>
                  <a:srgbClr val="E3EDF7"/>
                </a:solidFill>
                <a:latin typeface="Poppins"/>
                <a:rFonts ascii="Poppins" hAnsi="Poppins" eastAsia="Poppins" cs="Poppin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19609" y="2905124"/>
            <a:ext cx="952476" cy="9524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57728" y="3254776"/>
            <a:ext cx="476238" cy="2531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943351" y="4143375"/>
            <a:ext cx="230499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Optimize 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5707" y="4667249"/>
            <a:ext cx="2790755" cy="819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Improve resource utilization through proactive cancellation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2720" y="1523999"/>
            <a:ext cx="3362240" cy="4857750"/>
          </a:xfrm>
          <a:prstGeom prst="roundRect">
            <a:avLst>
              <a:gd name="adj" fmla="val 11331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2840" y="1952624"/>
            <a:ext cx="962000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1300"/>
              </a:spcAft>
            </a:pPr>
            <a:r>
              <a:rPr sz="4784" b="1">
                <a:solidFill>
                  <a:srgbClr val="E3EDF7"/>
                </a:solidFill>
                <a:latin typeface="Poppins"/>
                <a:rFonts ascii="Poppins" hAnsi="Poppins" eastAsia="Poppins" cs="Poppins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62840" y="2905124"/>
            <a:ext cx="952476" cy="9524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600959" y="3197506"/>
            <a:ext cx="476238" cy="36773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00859" y="4143375"/>
            <a:ext cx="2485962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Reduce Revenue Loss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8463" y="4667249"/>
            <a:ext cx="2790755" cy="819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Minimize financial impact by anticipating and preventing cancellations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73417"/>
            <a:ext cx="228594" cy="17716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428750"/>
            <a:ext cx="6857828" cy="4952999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0099" y="1762125"/>
            <a:ext cx="6191095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 Features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099" y="1830265"/>
            <a:ext cx="304792" cy="1875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00099" y="2333624"/>
            <a:ext cx="3009824" cy="466724"/>
          </a:xfrm>
          <a:prstGeom prst="roundRect">
            <a:avLst>
              <a:gd name="adj" fmla="val 32653"/>
            </a:avLst>
          </a:prstGeom>
          <a:gradFill rotWithShape="1">
            <a:gsLst>
              <a:gs pos="0">
                <a:srgbClr val="F8FAFF"/>
              </a:gs>
              <a:gs pos="100000">
                <a:srgbClr val="E8F2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 Same Side Corner Rectangle 6"/>
          <p:cNvSpPr/>
          <p:nvPr/>
        </p:nvSpPr>
        <p:spPr>
          <a:xfrm rot="16200000">
            <a:off x="816267" y="2517456"/>
            <a:ext cx="466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00119" y="2471608"/>
            <a:ext cx="209544" cy="1812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523961" y="2447924"/>
            <a:ext cx="39051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From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81370" y="2333624"/>
            <a:ext cx="3009824" cy="466724"/>
          </a:xfrm>
          <a:prstGeom prst="roundRect">
            <a:avLst>
              <a:gd name="adj" fmla="val 32653"/>
            </a:avLst>
          </a:prstGeom>
          <a:gradFill rotWithShape="1">
            <a:gsLst>
              <a:gs pos="0">
                <a:srgbClr val="F8FAFF"/>
              </a:gs>
              <a:gs pos="100000">
                <a:srgbClr val="E8F2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 rot="16200000">
            <a:off x="3997538" y="2517456"/>
            <a:ext cx="466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381390" y="2471608"/>
            <a:ext cx="209544" cy="181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05232" y="2447924"/>
            <a:ext cx="18097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0099" y="2971800"/>
            <a:ext cx="3009824" cy="466724"/>
          </a:xfrm>
          <a:prstGeom prst="roundRect">
            <a:avLst>
              <a:gd name="adj" fmla="val 32653"/>
            </a:avLst>
          </a:prstGeom>
          <a:gradFill rotWithShape="1">
            <a:gsLst>
              <a:gs pos="0">
                <a:srgbClr val="F8FAFF"/>
              </a:gs>
              <a:gs pos="100000">
                <a:srgbClr val="E8F2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 rot="16200000">
            <a:off x="816267" y="3155632"/>
            <a:ext cx="466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200119" y="3134883"/>
            <a:ext cx="209544" cy="150083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523961" y="3086100"/>
            <a:ext cx="96200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Vehicle 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81370" y="2971800"/>
            <a:ext cx="3009824" cy="466724"/>
          </a:xfrm>
          <a:prstGeom prst="roundRect">
            <a:avLst>
              <a:gd name="adj" fmla="val 32653"/>
            </a:avLst>
          </a:prstGeom>
          <a:gradFill rotWithShape="1">
            <a:gsLst>
              <a:gs pos="0">
                <a:srgbClr val="F8FAFF"/>
              </a:gs>
              <a:gs pos="100000">
                <a:srgbClr val="E8F2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 rot="16200000">
            <a:off x="3997538" y="3155632"/>
            <a:ext cx="466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4381390" y="3123556"/>
            <a:ext cx="209544" cy="17273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05232" y="3086100"/>
            <a:ext cx="101914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Vehicle Class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0099" y="3609975"/>
            <a:ext cx="3009824" cy="466724"/>
          </a:xfrm>
          <a:prstGeom prst="roundRect">
            <a:avLst>
              <a:gd name="adj" fmla="val 32653"/>
            </a:avLst>
          </a:prstGeom>
          <a:gradFill rotWithShape="1">
            <a:gsLst>
              <a:gs pos="0">
                <a:srgbClr val="F8FAFF"/>
              </a:gs>
              <a:gs pos="100000">
                <a:srgbClr val="E8F2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 Same Side Corner Rectangle 22"/>
          <p:cNvSpPr/>
          <p:nvPr/>
        </p:nvSpPr>
        <p:spPr>
          <a:xfrm rot="16200000">
            <a:off x="816267" y="3793807"/>
            <a:ext cx="466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200119" y="3756454"/>
            <a:ext cx="209544" cy="16424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23961" y="3724274"/>
            <a:ext cx="88580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Trip Reason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81370" y="3609975"/>
            <a:ext cx="3009824" cy="466724"/>
          </a:xfrm>
          <a:prstGeom prst="roundRect">
            <a:avLst>
              <a:gd name="adj" fmla="val 32653"/>
            </a:avLst>
          </a:prstGeom>
          <a:gradFill rotWithShape="1">
            <a:gsLst>
              <a:gs pos="0">
                <a:srgbClr val="F8FAFF"/>
              </a:gs>
              <a:gs pos="100000">
                <a:srgbClr val="E8F2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 Same Side Corner Rectangle 26"/>
          <p:cNvSpPr/>
          <p:nvPr/>
        </p:nvSpPr>
        <p:spPr>
          <a:xfrm rot="16200000">
            <a:off x="3997538" y="3793807"/>
            <a:ext cx="466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4381390" y="3756454"/>
            <a:ext cx="209544" cy="164241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4705232" y="3724274"/>
            <a:ext cx="37146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Price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0099" y="4248150"/>
            <a:ext cx="3009824" cy="466724"/>
          </a:xfrm>
          <a:prstGeom prst="roundRect">
            <a:avLst>
              <a:gd name="adj" fmla="val 32653"/>
            </a:avLst>
          </a:prstGeom>
          <a:gradFill rotWithShape="1">
            <a:gsLst>
              <a:gs pos="0">
                <a:srgbClr val="F8FAFF"/>
              </a:gs>
              <a:gs pos="100000">
                <a:srgbClr val="E8F2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 Same Side Corner Rectangle 30"/>
          <p:cNvSpPr/>
          <p:nvPr/>
        </p:nvSpPr>
        <p:spPr>
          <a:xfrm rot="16200000">
            <a:off x="816267" y="4431982"/>
            <a:ext cx="466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200119" y="4395658"/>
            <a:ext cx="209544" cy="18123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523961" y="4362450"/>
            <a:ext cx="131441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Coupon Discount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81370" y="4248150"/>
            <a:ext cx="3009824" cy="466724"/>
          </a:xfrm>
          <a:prstGeom prst="roundRect">
            <a:avLst>
              <a:gd name="adj" fmla="val 32653"/>
            </a:avLst>
          </a:prstGeom>
          <a:gradFill rotWithShape="1">
            <a:gsLst>
              <a:gs pos="0">
                <a:srgbClr val="F8FAFF"/>
              </a:gs>
              <a:gs pos="100000">
                <a:srgbClr val="E8F2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 Same Side Corner Rectangle 34"/>
          <p:cNvSpPr/>
          <p:nvPr/>
        </p:nvSpPr>
        <p:spPr>
          <a:xfrm rot="16200000">
            <a:off x="3997538" y="4431982"/>
            <a:ext cx="466724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4381390" y="4395658"/>
            <a:ext cx="209544" cy="1812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4705232" y="4362450"/>
            <a:ext cx="72388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Domestic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5552" y="1428750"/>
            <a:ext cx="3619409" cy="2000250"/>
          </a:xfrm>
          <a:prstGeom prst="roundRect">
            <a:avLst>
              <a:gd name="adj" fmla="val 14285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 amt="100000"/>
          </a:blip>
          <a:stretch>
            <a:fillRect/>
          </a:stretch>
        </p:blipFill>
        <p:spPr>
          <a:xfrm>
            <a:off x="8238919" y="1831917"/>
            <a:ext cx="323841" cy="24141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238919" y="2324100"/>
            <a:ext cx="138109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38919" y="2857500"/>
            <a:ext cx="138109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Not Cancelled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0504" y="2324100"/>
            <a:ext cx="1381090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3120"/>
              </a:lnSpc>
              <a:spcBef>
                <a:spcPts val="0"/>
              </a:spcBef>
              <a:spcAft>
                <a:spcPts val="520"/>
              </a:spcAft>
            </a:pPr>
            <a:r>
              <a:rPr sz="2870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10504" y="2857500"/>
            <a:ext cx="138109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Cancelled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905552" y="3667124"/>
            <a:ext cx="3619409" cy="1609724"/>
          </a:xfrm>
          <a:prstGeom prst="roundRect">
            <a:avLst>
              <a:gd name="adj" fmla="val 1775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12">
            <a:alphaModFix amt="100000"/>
          </a:blip>
          <a:stretch>
            <a:fillRect/>
          </a:stretch>
        </p:blipFill>
        <p:spPr>
          <a:xfrm>
            <a:off x="8143671" y="3941577"/>
            <a:ext cx="247643" cy="21309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8524661" y="4333875"/>
            <a:ext cx="571485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24661" y="4838699"/>
            <a:ext cx="571485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Features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877178" y="4333875"/>
            <a:ext cx="102867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13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Binary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877178" y="4838699"/>
            <a:ext cx="102867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325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Classification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64845"/>
            <a:ext cx="228594" cy="19430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523999"/>
            <a:ext cx="3019349" cy="4857750"/>
          </a:xfrm>
          <a:prstGeom prst="roundRect">
            <a:avLst>
              <a:gd name="adj" fmla="val 12618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2476" y="13335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52476" y="1333500"/>
            <a:ext cx="47623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09684" y="2143125"/>
            <a:ext cx="1142971" cy="1143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895427" y="2450154"/>
            <a:ext cx="571485" cy="5289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476" y="3571875"/>
            <a:ext cx="2447863" cy="666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Handle Missing Values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476" y="4429125"/>
            <a:ext cx="2447863" cy="781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975"/>
              </a:spcAft>
            </a:pPr>
            <a:r>
              <a:rPr sz="101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Identify and treat missing data using appropriate imputation techniques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019449" y="3870007"/>
            <a:ext cx="228594" cy="1657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81410" y="1523999"/>
            <a:ext cx="3019349" cy="4857750"/>
          </a:xfrm>
          <a:prstGeom prst="roundRect">
            <a:avLst>
              <a:gd name="adj" fmla="val 12618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67153" y="13335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7153" y="1333500"/>
            <a:ext cx="47623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24361" y="2143125"/>
            <a:ext cx="1142971" cy="1143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10104" y="2495752"/>
            <a:ext cx="571485" cy="43774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867153" y="3571875"/>
            <a:ext cx="2447863" cy="666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Drop Irrelevant Columns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67153" y="4429125"/>
            <a:ext cx="2447863" cy="781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975"/>
              </a:spcAft>
            </a:pPr>
            <a:r>
              <a:rPr sz="101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Remove features that don't contribute to prediction accuracy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943651" y="3870007"/>
            <a:ext cx="228594" cy="16573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8505612" y="1523999"/>
            <a:ext cx="3019349" cy="4857750"/>
          </a:xfrm>
          <a:prstGeom prst="roundRect">
            <a:avLst>
              <a:gd name="adj" fmla="val 12618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91355" y="1333500"/>
            <a:ext cx="476238" cy="47624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91355" y="1333500"/>
            <a:ext cx="476238" cy="4762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9039" y="2143125"/>
            <a:ext cx="1142971" cy="1143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724781" y="2565670"/>
            <a:ext cx="571485" cy="2979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91355" y="3571875"/>
            <a:ext cx="2447863" cy="666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Encode Categorical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1355" y="4429125"/>
            <a:ext cx="2447863" cy="781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975"/>
              </a:spcAft>
            </a:pPr>
            <a:r>
              <a:rPr sz="101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Convert categorical variables into numerical format for ML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53414"/>
            <a:ext cx="228594" cy="21717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857228" y="1523999"/>
            <a:ext cx="5076698" cy="2400300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90595" y="2247899"/>
            <a:ext cx="952476" cy="952499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400139" y="2584738"/>
            <a:ext cx="533386" cy="2788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28814" y="2066924"/>
            <a:ext cx="317174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8814" y="2552700"/>
            <a:ext cx="3171745" cy="819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Primary programming language for data analysis and model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7293" y="1523999"/>
            <a:ext cx="5076698" cy="2400300"/>
          </a:xfrm>
          <a:prstGeom prst="roundRect">
            <a:avLst>
              <a:gd name="adj" fmla="val 1587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91135" y="2247899"/>
            <a:ext cx="952476" cy="952499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00679" y="2521094"/>
            <a:ext cx="533386" cy="40611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829354" y="2209800"/>
            <a:ext cx="317174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PySpark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9354" y="2695575"/>
            <a:ext cx="3171745" cy="5524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Big data processing framework for handling large datasets efficiently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7228" y="4257675"/>
            <a:ext cx="5076698" cy="2124075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190595" y="4838699"/>
            <a:ext cx="952476" cy="952499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400139" y="5163415"/>
            <a:ext cx="533386" cy="3030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428814" y="4800600"/>
            <a:ext cx="317174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Logistic Regression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8814" y="5286375"/>
            <a:ext cx="3171745" cy="5524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Machine learning algorithm for binary classification predictions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7293" y="4257675"/>
            <a:ext cx="5076698" cy="2124075"/>
          </a:xfrm>
          <a:prstGeom prst="roundRect">
            <a:avLst>
              <a:gd name="adj" fmla="val 1793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591135" y="4838699"/>
            <a:ext cx="952476" cy="952499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00679" y="5154323"/>
            <a:ext cx="533386" cy="32125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29354" y="4800600"/>
            <a:ext cx="3171745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780"/>
              </a:spcAft>
            </a:pPr>
            <a:r>
              <a:rPr sz="155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Matplotlib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9354" y="5286375"/>
            <a:ext cx="3171745" cy="5524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Data visualization library for creating charts and graphs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73417"/>
            <a:ext cx="228594" cy="17716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2324100"/>
            <a:ext cx="1904952" cy="326707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09664" y="2562224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09664" y="2562224"/>
            <a:ext cx="42861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/>
              </a:spcBef>
            </a:pPr>
            <a:r>
              <a:rPr sz="1315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90595" y="3181350"/>
            <a:ext cx="857228" cy="857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390615" y="3450556"/>
            <a:ext cx="457188" cy="3188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1525" y="4229100"/>
            <a:ext cx="1285842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Data Loading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8" y="4657725"/>
            <a:ext cx="1523961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Import and read dataset from source files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2714557" y="3298507"/>
            <a:ext cx="228594" cy="165734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086022" y="2324100"/>
            <a:ext cx="1904952" cy="326707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828954" y="2562224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28954" y="2562224"/>
            <a:ext cx="42861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/>
              </a:spcBef>
            </a:pPr>
            <a:r>
              <a:rPr sz="1315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9884" y="3181350"/>
            <a:ext cx="857228" cy="857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809904" y="3396414"/>
            <a:ext cx="457188" cy="42712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343191" y="4229100"/>
            <a:ext cx="139061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Preprocessing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6518" y="4657725"/>
            <a:ext cx="1523961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Clean, handle missing values, encode features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133846" y="3298507"/>
            <a:ext cx="228594" cy="165734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5505312" y="2181225"/>
            <a:ext cx="1904952" cy="355282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48243" y="2419349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48243" y="2419349"/>
            <a:ext cx="42861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/>
              </a:spcBef>
            </a:pPr>
            <a:r>
              <a:rPr sz="1315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29174" y="3038475"/>
            <a:ext cx="857228" cy="857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229194" y="3292642"/>
            <a:ext cx="457188" cy="3489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695807" y="4086225"/>
            <a:ext cx="152396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Feature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95807" y="4800600"/>
            <a:ext cx="1523961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Create new features and transform existing ones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7553136" y="3298507"/>
            <a:ext cx="228594" cy="165734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7924601" y="2324100"/>
            <a:ext cx="1904952" cy="326707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667533" y="2562224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7533" y="2562224"/>
            <a:ext cx="42861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/>
              </a:spcBef>
            </a:pPr>
            <a:r>
              <a:rPr sz="1315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8463" y="3181350"/>
            <a:ext cx="857228" cy="857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648483" y="3415965"/>
            <a:ext cx="457188" cy="38801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153196" y="4229100"/>
            <a:ext cx="143823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Model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5097" y="4657725"/>
            <a:ext cx="1523961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Train logistic regression on processed data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972425" y="3298507"/>
            <a:ext cx="228594" cy="165734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0343891" y="2324100"/>
            <a:ext cx="1904952" cy="3267075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1086822" y="2562224"/>
            <a:ext cx="428614" cy="42862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86822" y="2562224"/>
            <a:ext cx="428614" cy="4286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/>
              </a:spcBef>
            </a:pPr>
            <a:r>
              <a:rPr sz="1315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867753" y="3181350"/>
            <a:ext cx="857228" cy="85725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067773" y="3435517"/>
            <a:ext cx="457188" cy="34891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782030" y="4229100"/>
            <a:ext cx="102867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19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34386" y="4657725"/>
            <a:ext cx="1523961" cy="6476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Assess model performance with metrics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73417"/>
            <a:ext cx="228594" cy="17716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2762249"/>
            <a:ext cx="5238619" cy="2085975"/>
          </a:xfrm>
          <a:prstGeom prst="roundRect">
            <a:avLst>
              <a:gd name="adj" fmla="val 18264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00099" y="3223021"/>
            <a:ext cx="380990" cy="2024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0099" y="3695699"/>
            <a:ext cx="4571885" cy="8191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Binary classification algorithm that predicts the probability of a passenger canceling their booking (0 or 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342" y="2162174"/>
            <a:ext cx="523861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 Why Chosen? 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286342" y="2211160"/>
            <a:ext cx="285742" cy="2449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86342" y="2733674"/>
            <a:ext cx="2524061" cy="1409699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 Same Side Corner Rectangle 8"/>
          <p:cNvSpPr/>
          <p:nvPr/>
        </p:nvSpPr>
        <p:spPr>
          <a:xfrm rot="16200000">
            <a:off x="5647533" y="3372483"/>
            <a:ext cx="1409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14937" y="3020583"/>
            <a:ext cx="209544" cy="15008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14937" y="3305174"/>
            <a:ext cx="2104972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Quickly processes large datasets with minimal computational resources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00899" y="2733674"/>
            <a:ext cx="2524061" cy="1409699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 Same Side Corner Rectangle 12"/>
          <p:cNvSpPr/>
          <p:nvPr/>
        </p:nvSpPr>
        <p:spPr>
          <a:xfrm rot="16200000">
            <a:off x="8362090" y="3372483"/>
            <a:ext cx="1409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229494" y="3005008"/>
            <a:ext cx="209544" cy="1812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229494" y="3305174"/>
            <a:ext cx="2104972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Provides clear coefficients and probabilities for decision-making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342" y="4333875"/>
            <a:ext cx="2524061" cy="1409699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 Same Side Corner Rectangle 16"/>
          <p:cNvSpPr/>
          <p:nvPr/>
        </p:nvSpPr>
        <p:spPr>
          <a:xfrm rot="16200000">
            <a:off x="5647533" y="4972684"/>
            <a:ext cx="1409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14937" y="4633526"/>
            <a:ext cx="209544" cy="12459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14937" y="4905375"/>
            <a:ext cx="2104972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Ideal for our 0/1 cancellation classification problem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0899" y="4333875"/>
            <a:ext cx="2524061" cy="1409699"/>
          </a:xfrm>
          <a:prstGeom prst="roundRect">
            <a:avLst>
              <a:gd name="adj" fmla="val 2027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 Same Side Corner Rectangle 20"/>
          <p:cNvSpPr/>
          <p:nvPr/>
        </p:nvSpPr>
        <p:spPr>
          <a:xfrm rot="16200000">
            <a:off x="8362090" y="4972684"/>
            <a:ext cx="14096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229494" y="4636358"/>
            <a:ext cx="209544" cy="11893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229494" y="4905375"/>
            <a:ext cx="2104972" cy="60007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Establishes performance benchmarks for more complex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73417"/>
            <a:ext cx="228594" cy="17716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523999"/>
            <a:ext cx="5238619" cy="552449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0099" y="1952624"/>
            <a:ext cx="761980" cy="761999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71545" y="2157004"/>
            <a:ext cx="419089" cy="3532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000199" y="1990724"/>
            <a:ext cx="229546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00199" y="2438400"/>
            <a:ext cx="229546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Overall Prediction Correctness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99" y="3000375"/>
            <a:ext cx="4571885" cy="5810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95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Measures the proportion of correct predictions out of all predictions made by the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0099" y="3867149"/>
            <a:ext cx="4571885" cy="857250"/>
          </a:xfrm>
          <a:prstGeom prst="roundRect">
            <a:avLst>
              <a:gd name="adj" fmla="val 26666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90595" y="4057650"/>
            <a:ext cx="4190895" cy="47624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Accuracy = (True Positives + True Negatives) / Total Predictions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0099" y="4962525"/>
            <a:ext cx="4571885" cy="1704975"/>
          </a:xfrm>
          <a:prstGeom prst="roundRect">
            <a:avLst>
              <a:gd name="adj" fmla="val 13407"/>
            </a:avLst>
          </a:prstGeom>
          <a:solidFill>
            <a:srgbClr val="FFFFFF"/>
          </a:solidFill>
          <a:ln w="16510">
            <a:solidFill>
              <a:srgbClr val="E3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209644" y="5219056"/>
            <a:ext cx="209544" cy="17273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09644" y="5543550"/>
            <a:ext cx="415279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Simple and intuitive metric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9644" y="5848350"/>
            <a:ext cx="415279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Easy to interpret and communicate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9644" y="6153149"/>
            <a:ext cx="415279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Provides overall model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342" y="1523999"/>
            <a:ext cx="5238619" cy="5524499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619709" y="1952624"/>
            <a:ext cx="761980" cy="761999"/>
          </a:xfrm>
          <a:prstGeom prst="roundRect">
            <a:avLst>
              <a:gd name="adj" fmla="val 375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91155" y="2222862"/>
            <a:ext cx="419089" cy="22152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619809" y="1990724"/>
            <a:ext cx="1714457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67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ROC-AUC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9809" y="2438400"/>
            <a:ext cx="171445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Area Under ROC Curve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9709" y="3000375"/>
            <a:ext cx="4571885" cy="5810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95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Evaluates model's ability to distinguish between cancellation classes at different thresholds.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19709" y="3867149"/>
            <a:ext cx="4571885" cy="619124"/>
          </a:xfrm>
          <a:prstGeom prst="roundRect">
            <a:avLst>
              <a:gd name="adj" fmla="val 36923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0204" y="4057650"/>
            <a:ext cx="419089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AUC = 1.0 (Perfect) | AUC = 0.5 (Random)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19709" y="4724399"/>
            <a:ext cx="4571885" cy="1704975"/>
          </a:xfrm>
          <a:prstGeom prst="roundRect">
            <a:avLst>
              <a:gd name="adj" fmla="val 13407"/>
            </a:avLst>
          </a:prstGeom>
          <a:solidFill>
            <a:srgbClr val="FFFFFF"/>
          </a:solidFill>
          <a:ln w="16510">
            <a:solidFill>
              <a:srgbClr val="E3ED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29254" y="4980931"/>
            <a:ext cx="209544" cy="1727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29254" y="5305425"/>
            <a:ext cx="415279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Threshold-independent evaluation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9254" y="5610224"/>
            <a:ext cx="415279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Robust to class imbalance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29254" y="5915025"/>
            <a:ext cx="4152796" cy="228600"/>
          </a:xfrm>
          <a:prstGeom prst="rect">
            <a:avLst/>
          </a:prstGeom>
          <a:noFill/>
        </p:spPr>
        <p:txBody>
          <a:bodyPr wrap="none" anchor="ctr" lIns="182880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520"/>
              </a:spcAft>
            </a:pPr>
            <a:r>
              <a:rPr sz="897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Shows trade-off between TPR and FPR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73417"/>
            <a:ext cx="228594" cy="17716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790700"/>
            <a:ext cx="5267193" cy="4038599"/>
          </a:xfrm>
          <a:prstGeom prst="roundRect">
            <a:avLst>
              <a:gd name="adj" fmla="val 943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270016" y="3727449"/>
            <a:ext cx="4038599" cy="1651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47723" y="2198076"/>
            <a:ext cx="304792" cy="2139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1047723" y="2733674"/>
            <a:ext cx="2181170" cy="1190625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8219" y="2924175"/>
            <a:ext cx="1800179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85.2%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19" y="3495675"/>
            <a:ext cx="18001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Accuracy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9389" y="2733674"/>
            <a:ext cx="2181170" cy="1190625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9884" y="2924175"/>
            <a:ext cx="1800179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0.88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9884" y="3495675"/>
            <a:ext cx="18001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ROC-AUC Score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7723" y="4114800"/>
            <a:ext cx="2181170" cy="1190625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19" y="4305300"/>
            <a:ext cx="1800179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82.5%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19" y="4876800"/>
            <a:ext cx="18001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Precision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19389" y="4114800"/>
            <a:ext cx="2181170" cy="1190625"/>
          </a:xfrm>
          <a:prstGeom prst="roundRect">
            <a:avLst>
              <a:gd name="adj" fmla="val 24000"/>
            </a:avLst>
          </a:prstGeom>
          <a:gradFill rotWithShape="1">
            <a:gsLst>
              <a:gs pos="0">
                <a:srgbClr val="E8F2FF"/>
              </a:gs>
              <a:gs pos="100000">
                <a:srgbClr val="D4E4FF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9884" y="4305300"/>
            <a:ext cx="1800179" cy="5238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25"/>
              </a:spcAft>
            </a:pPr>
            <a:r>
              <a:rPr sz="2152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79.8%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9884" y="4876800"/>
            <a:ext cx="180017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Recall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7293" y="1476375"/>
            <a:ext cx="5267193" cy="4905375"/>
          </a:xfrm>
          <a:prstGeom prst="roundRect">
            <a:avLst>
              <a:gd name="adj" fmla="val 7766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591135" y="1887415"/>
            <a:ext cx="304792" cy="225669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6591135" y="2419349"/>
            <a:ext cx="4600459" cy="990599"/>
          </a:xfrm>
          <a:prstGeom prst="roundRect">
            <a:avLst>
              <a:gd name="adj" fmla="val 19230"/>
            </a:avLst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43531" y="2562224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38779" y="2699497"/>
            <a:ext cx="190495" cy="10645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257868" y="2562224"/>
            <a:ext cx="37908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Strong Predictive Power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7868" y="2867025"/>
            <a:ext cx="379085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Model demonstrates high accuracy in identifying potential cancellations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91135" y="3600450"/>
            <a:ext cx="4600459" cy="990599"/>
          </a:xfrm>
          <a:prstGeom prst="roundRect">
            <a:avLst>
              <a:gd name="adj" fmla="val 19230"/>
            </a:avLst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743531" y="3743325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38779" y="3858185"/>
            <a:ext cx="190495" cy="15127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57868" y="3743325"/>
            <a:ext cx="3790855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Effective Feature Selection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7868" y="4048124"/>
            <a:ext cx="379085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Selected features show significant correlation with cancellation behavior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91135" y="4781549"/>
            <a:ext cx="4600459" cy="790574"/>
          </a:xfrm>
          <a:prstGeom prst="roundRect">
            <a:avLst>
              <a:gd name="adj" fmla="val 24096"/>
            </a:avLst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743531" y="4924424"/>
            <a:ext cx="380990" cy="38099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838779" y="5036483"/>
            <a:ext cx="190495" cy="15688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257868" y="4924424"/>
            <a:ext cx="3514637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333333"/>
                </a:solidFill>
                <a:latin typeface="Poppins"/>
                <a:rFonts ascii="Poppins" hAnsi="Poppins" eastAsia="Poppins" cs="Poppins"/>
              </a:rPr>
              <a:t>Balanced Performance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57868" y="5229225"/>
            <a:ext cx="3514637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Good trade-off between precision and recall metrics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73417"/>
            <a:ext cx="228594" cy="177164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428750"/>
            <a:ext cx="5286242" cy="3086100"/>
          </a:xfrm>
          <a:prstGeom prst="roundRect">
            <a:avLst>
              <a:gd name="adj" fmla="val 12345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52476" y="1809749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7248" y="1925292"/>
            <a:ext cx="266693" cy="22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71585" y="1762125"/>
            <a:ext cx="2009724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Confusion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1585" y="2124075"/>
            <a:ext cx="2009724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Model Prediction 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2476" y="2514600"/>
            <a:ext cx="4714757" cy="17145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F8FAFF"/>
              </a:gs>
              <a:gs pos="100000">
                <a:srgbClr val="E3EDF7"/>
              </a:gs>
            </a:gsLst>
            <a:lin scaled="0" ang="8100000"/>
          </a:gradFill>
          <a:ln w="2476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3028874" y="2810077"/>
            <a:ext cx="571485" cy="4377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28774" y="3467100"/>
            <a:ext cx="2562160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Confusion Matrix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8319" y="3790949"/>
            <a:ext cx="2133546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TP, TN, FP, FN values visualization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8719" y="1428750"/>
            <a:ext cx="5286242" cy="3086100"/>
          </a:xfrm>
          <a:prstGeom prst="roundRect">
            <a:avLst>
              <a:gd name="adj" fmla="val 12345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24461" y="1809749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29234" y="1960079"/>
            <a:ext cx="266693" cy="15654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143571" y="1762125"/>
            <a:ext cx="260025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ROC Curve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3571" y="2124075"/>
            <a:ext cx="260025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True Positive Rate vs False Positive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24461" y="2514600"/>
            <a:ext cx="4714757" cy="17145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F8FAFF"/>
              </a:gs>
              <a:gs pos="100000">
                <a:srgbClr val="E3EDF7"/>
              </a:gs>
            </a:gsLst>
            <a:lin scaled="0" ang="8100000"/>
          </a:gradFill>
          <a:ln w="2476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60000"/>
          </a:blip>
          <a:stretch>
            <a:fillRect/>
          </a:stretch>
        </p:blipFill>
        <p:spPr>
          <a:xfrm>
            <a:off x="8591335" y="2879995"/>
            <a:ext cx="571485" cy="29790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867453" y="3467100"/>
            <a:ext cx="201924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ROC Curve Placeholder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05572" y="3790949"/>
            <a:ext cx="1543011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AUC score visualization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6733" y="4800600"/>
            <a:ext cx="10858228" cy="3086100"/>
          </a:xfrm>
          <a:prstGeom prst="roundRect">
            <a:avLst>
              <a:gd name="adj" fmla="val 12345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2476" y="5181599"/>
            <a:ext cx="476238" cy="476249"/>
          </a:xfrm>
          <a:prstGeom prst="roundRect">
            <a:avLst>
              <a:gd name="adj" fmla="val 48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57248" y="5326131"/>
            <a:ext cx="266693" cy="16813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571585" y="5133975"/>
            <a:ext cx="3619409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"/>
              </a:spcAft>
            </a:pPr>
            <a:r>
              <a:rPr sz="1435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Cancellation Distribution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1585" y="5495924"/>
            <a:ext cx="3619409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Class Balance Analysis (0: Not Cancelled, 1: Cancelled)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476" y="5886450"/>
            <a:ext cx="10286742" cy="17145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F8FAFF"/>
              </a:gs>
              <a:gs pos="100000">
                <a:srgbClr val="E3EDF7"/>
              </a:gs>
            </a:gsLst>
            <a:lin scaled="0" ang="8100000"/>
          </a:gradFill>
          <a:ln w="2476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 amt="60000"/>
          </a:blip>
          <a:stretch>
            <a:fillRect/>
          </a:stretch>
        </p:blipFill>
        <p:spPr>
          <a:xfrm>
            <a:off x="5810104" y="6160648"/>
            <a:ext cx="571485" cy="48030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467113" y="6838949"/>
            <a:ext cx="3257468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Cancellation Distribution Placeholder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7588" y="7162800"/>
            <a:ext cx="3286042" cy="200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Histogram or bar chart showing class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69131"/>
            <a:ext cx="228594" cy="18573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523999"/>
            <a:ext cx="3400339" cy="5133975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85902" y="1904999"/>
            <a:ext cx="952476" cy="9524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124021" y="2254651"/>
            <a:ext cx="476238" cy="253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1605" y="3095625"/>
            <a:ext cx="1190595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Scalable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99" y="3686175"/>
            <a:ext cx="2733606" cy="981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Handles increasing data volumes efficiently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506225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04892" y="5019675"/>
            <a:ext cx="191447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Processes large datasets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553850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4892" y="5495924"/>
            <a:ext cx="186685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Easy to expand capacity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601475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04892" y="5972175"/>
            <a:ext cx="197162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Supports business growth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0439" y="1523999"/>
            <a:ext cx="3400339" cy="5133975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19609" y="1904999"/>
            <a:ext cx="952476" cy="9524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57728" y="2216973"/>
            <a:ext cx="476238" cy="328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543411" y="3095625"/>
            <a:ext cx="1104872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Efficient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3806" y="3686175"/>
            <a:ext cx="2733606" cy="9810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Optimized for fast and accurate predictions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33806" y="506225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38599" y="5019675"/>
            <a:ext cx="158111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Quick model training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33806" y="5538507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38599" y="5495924"/>
            <a:ext cx="182875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Low computational cost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33806" y="60147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38599" y="5972175"/>
            <a:ext cx="163825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Real-time processing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4621" y="1523999"/>
            <a:ext cx="3400339" cy="5133975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41275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53316" y="1904999"/>
            <a:ext cx="952476" cy="9524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591435" y="2179295"/>
            <a:ext cx="476238" cy="40390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8457988" y="3095625"/>
            <a:ext cx="2733606" cy="800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Real-World Application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7988" y="4086225"/>
            <a:ext cx="2733606" cy="5810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Practical solution for transportation systems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57988" y="5062257"/>
            <a:ext cx="190495" cy="16248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762780" y="5019675"/>
            <a:ext cx="164778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Reduces revenue loss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57988" y="5538507"/>
            <a:ext cx="190495" cy="16248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8762780" y="5495924"/>
            <a:ext cx="214307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Improves resource planning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57988" y="601475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62780" y="5972175"/>
            <a:ext cx="2095447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Enhances customer service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69131"/>
            <a:ext cx="228594" cy="18573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523999"/>
            <a:ext cx="5238619" cy="60769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4127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14557" y="1952624"/>
            <a:ext cx="1142971" cy="11430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F6B6B"/>
              </a:gs>
              <a:gs pos="100000">
                <a:srgbClr val="EE5A2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000299" y="2363010"/>
            <a:ext cx="571485" cy="3222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228794" y="3381375"/>
            <a:ext cx="2104972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625"/>
              </a:spcAft>
            </a:pPr>
            <a:r>
              <a:rPr sz="1913" b="1">
                <a:solidFill>
                  <a:srgbClr val="FF6B6B"/>
                </a:solidFill>
                <a:latin typeface="Poppins"/>
                <a:rFonts ascii="Poppins" hAnsi="Poppins" eastAsia="Poppins" cs="Poppins"/>
              </a:rPr>
              <a:t>Simple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23" y="4076699"/>
            <a:ext cx="4476638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95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Logistic Regression has inherent limitations in handling complex patterns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7723" y="4981574"/>
            <a:ext cx="4476638" cy="742950"/>
          </a:xfrm>
          <a:prstGeom prst="roundRect">
            <a:avLst>
              <a:gd name="adj" fmla="val 25641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90595" y="5160644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33486" y="5124449"/>
            <a:ext cx="384800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Linear decision boundaries may not capture non-linear relationships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7723" y="5867399"/>
            <a:ext cx="4476638" cy="533399"/>
          </a:xfrm>
          <a:prstGeom prst="roundRect">
            <a:avLst>
              <a:gd name="adj" fmla="val 35714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90595" y="6046469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33486" y="6010274"/>
            <a:ext cx="334319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May underfit with complex booking patterns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47723" y="6543675"/>
            <a:ext cx="4476638" cy="533399"/>
          </a:xfrm>
          <a:prstGeom prst="roundRect">
            <a:avLst>
              <a:gd name="adj" fmla="val 35714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90595" y="6722745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533486" y="6686550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Limited to binary classification tasks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342" y="1523999"/>
            <a:ext cx="5238619" cy="60769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41275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34166" y="1952624"/>
            <a:ext cx="1142971" cy="1143000"/>
          </a:xfrm>
          <a:prstGeom prst="roundRect">
            <a:avLst>
              <a:gd name="adj" fmla="val 33333"/>
            </a:avLst>
          </a:prstGeom>
          <a:gradFill rotWithShape="1">
            <a:gsLst>
              <a:gs pos="0">
                <a:srgbClr val="FF6B6B"/>
              </a:gs>
              <a:gs pos="100000">
                <a:srgbClr val="EE5A2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619909" y="2305252"/>
            <a:ext cx="571485" cy="43774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00759" y="3381375"/>
            <a:ext cx="2609784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625"/>
              </a:spcAft>
            </a:pPr>
            <a:r>
              <a:rPr sz="1913" b="1">
                <a:solidFill>
                  <a:srgbClr val="FF6B6B"/>
                </a:solidFill>
                <a:latin typeface="Poppins"/>
                <a:rFonts ascii="Poppins" hAnsi="Poppins" eastAsia="Poppins" cs="Poppins"/>
              </a:rPr>
              <a:t>Limited Features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333" y="4076699"/>
            <a:ext cx="4476638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95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Current dataset lacks comprehensive passenger and trip information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3" y="4981574"/>
            <a:ext cx="4476638" cy="742950"/>
          </a:xfrm>
          <a:prstGeom prst="roundRect">
            <a:avLst>
              <a:gd name="adj" fmla="val 25641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10204" y="5160644"/>
            <a:ext cx="228594" cy="19430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153096" y="5124449"/>
            <a:ext cx="3848003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Missing temporal features (booking time, seasonality)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67333" y="5867399"/>
            <a:ext cx="4476638" cy="533399"/>
          </a:xfrm>
          <a:prstGeom prst="roundRect">
            <a:avLst>
              <a:gd name="adj" fmla="val 35714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10204" y="6046469"/>
            <a:ext cx="228594" cy="19430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153096" y="6010274"/>
            <a:ext cx="262883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No user behavior or historical 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67333" y="6543675"/>
            <a:ext cx="4476638" cy="533399"/>
          </a:xfrm>
          <a:prstGeom prst="roundRect">
            <a:avLst>
              <a:gd name="adj" fmla="val 35714"/>
            </a:avLst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10204" y="6722745"/>
            <a:ext cx="228594" cy="19430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53096" y="6686550"/>
            <a:ext cx="316222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Limited external factors (weather, events)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99135"/>
            <a:ext cx="228594" cy="12572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523999"/>
            <a:ext cx="3400339" cy="5210174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41275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85902" y="1904999"/>
            <a:ext cx="952476" cy="9524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CC66"/>
              </a:gs>
              <a:gs pos="100000">
                <a:srgbClr val="00994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2124021" y="2179295"/>
            <a:ext cx="476238" cy="4039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3941" y="3095625"/>
            <a:ext cx="207639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CC66"/>
                </a:solidFill>
                <a:latin typeface="Poppins"/>
                <a:rFonts ascii="Poppins" hAnsi="Poppins" eastAsia="Poppins" cs="Poppins"/>
              </a:rPr>
              <a:t>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0099" y="3686175"/>
            <a:ext cx="2733606" cy="5810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Implement ensemble learning for improved accuracy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4662207"/>
            <a:ext cx="190495" cy="1624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04892" y="4619625"/>
            <a:ext cx="202877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Better prediction accuracy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5138457"/>
            <a:ext cx="190495" cy="162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4892" y="5095874"/>
            <a:ext cx="2000199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Handles complex patterns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5614707"/>
            <a:ext cx="190495" cy="16248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04892" y="5572125"/>
            <a:ext cx="2133546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Feature importance ranking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0099" y="6090957"/>
            <a:ext cx="190495" cy="16248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04892" y="6048375"/>
            <a:ext cx="178113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Reduced overfitting risk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00439" y="1523999"/>
            <a:ext cx="3400339" cy="5210174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41275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19609" y="1904999"/>
            <a:ext cx="952476" cy="9524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CC66"/>
              </a:gs>
              <a:gs pos="100000">
                <a:srgbClr val="00994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57728" y="2179295"/>
            <a:ext cx="476238" cy="4039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857628" y="3095625"/>
            <a:ext cx="247643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CC66"/>
                </a:solidFill>
                <a:latin typeface="Poppins"/>
                <a:rFonts ascii="Poppins" hAnsi="Poppins" eastAsia="Poppins" cs="Poppins"/>
              </a:rPr>
              <a:t>Real-time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3806" y="3686175"/>
            <a:ext cx="2733606" cy="5810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Enable live cancellation prediction at booking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33806" y="4662207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38599" y="4619625"/>
            <a:ext cx="188590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Instant prediction results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33806" y="5138457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38599" y="5095874"/>
            <a:ext cx="192400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Automated alerts system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33806" y="5614707"/>
            <a:ext cx="190495" cy="16248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38599" y="5572125"/>
            <a:ext cx="2190695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Dynamic resource allocation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4733806" y="6090957"/>
            <a:ext cx="190495" cy="16248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038599" y="6048375"/>
            <a:ext cx="2085922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Continuous model updates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24621" y="1523999"/>
            <a:ext cx="3400339" cy="5210174"/>
          </a:xfrm>
          <a:prstGeom prst="roundRect">
            <a:avLst>
              <a:gd name="adj" fmla="val 11204"/>
            </a:avLst>
          </a:prstGeom>
          <a:solidFill>
            <a:srgbClr val="FFFFFF"/>
          </a:solidFill>
          <a:ln w="41275">
            <a:solidFill>
              <a:srgbClr val="00CC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353316" y="1904999"/>
            <a:ext cx="952476" cy="952499"/>
          </a:xfrm>
          <a:prstGeom prst="roundRect">
            <a:avLst>
              <a:gd name="adj" fmla="val 40000"/>
            </a:avLst>
          </a:prstGeom>
          <a:gradFill rotWithShape="1">
            <a:gsLst>
              <a:gs pos="0">
                <a:srgbClr val="00CC66"/>
              </a:gs>
              <a:gs pos="100000">
                <a:srgbClr val="009944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591435" y="2215466"/>
            <a:ext cx="476238" cy="33156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638959" y="3095625"/>
            <a:ext cx="2371665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1674" b="1">
                <a:solidFill>
                  <a:srgbClr val="00CC66"/>
                </a:solidFill>
                <a:latin typeface="Poppins"/>
                <a:rFonts ascii="Poppins" hAnsi="Poppins" eastAsia="Poppins" cs="Poppins"/>
              </a:rPr>
              <a:t>Web Deployment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7988" y="3686175"/>
            <a:ext cx="2733606" cy="5810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1950"/>
              </a:lnSpc>
              <a:spcBef>
                <a:spcPts val="0"/>
              </a:spcBef>
              <a:spcAft>
                <a:spcPts val="1625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Build user-friendly web interface for stakeholders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57988" y="4662207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762780" y="4619625"/>
            <a:ext cx="1323941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Easy accessibility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57988" y="5138457"/>
            <a:ext cx="190495" cy="16248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62780" y="5095874"/>
            <a:ext cx="178113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Interactive dashboards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57988" y="5614707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762780" y="5572125"/>
            <a:ext cx="1247743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User input forms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57988" y="6090957"/>
            <a:ext cx="190495" cy="162485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762780" y="6048375"/>
            <a:ext cx="1362040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666666"/>
                </a:solidFill>
                <a:latin typeface="Poppins"/>
                <a:rFonts ascii="Poppins" hAnsi="Poppins" eastAsia="Poppins" cs="Poppins"/>
              </a:rPr>
              <a:t>Visualization tools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66733" y="664845"/>
            <a:ext cx="228594" cy="194309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66733" y="1981199"/>
            <a:ext cx="5238619" cy="3943350"/>
          </a:xfrm>
          <a:prstGeom prst="roundRect">
            <a:avLst>
              <a:gd name="adj" fmla="val 9661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 Same Side Corner Rectangle 3"/>
          <p:cNvSpPr/>
          <p:nvPr/>
        </p:nvSpPr>
        <p:spPr>
          <a:xfrm rot="16200000">
            <a:off x="-1205882" y="3853814"/>
            <a:ext cx="3943350" cy="1981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4872" y="2362199"/>
            <a:ext cx="4419489" cy="3714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625"/>
              </a:spcAft>
            </a:pPr>
            <a:r>
              <a:rPr sz="155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1104"/>
              <a:t>  </a:t>
            </a:r>
            <a:r>
              <a:rPr sz="1554" b="1">
                <a:solidFill>
                  <a:srgbClr val="0066CC"/>
                </a:solidFill>
                <a:latin typeface="Poppins"/>
                <a:rFonts ascii="Poppins" hAnsi="Poppins" eastAsia="Poppins" cs="Poppins"/>
              </a:rPr>
              <a:t> Project Summary 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4872" y="2422280"/>
            <a:ext cx="304792" cy="26083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04872" y="2971800"/>
            <a:ext cx="4419489" cy="9239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1300"/>
              </a:spcAft>
            </a:pPr>
            <a:r>
              <a:rPr sz="1076" b="0">
                <a:solidFill>
                  <a:srgbClr val="555555"/>
                </a:solidFill>
                <a:latin typeface="Poppins"/>
                <a:rFonts ascii="Poppins" hAnsi="Poppins" eastAsia="Poppins" cs="Poppins"/>
              </a:rPr>
              <a:t>Successfully developed a machine learning model to predict passenger booking cancellations using historical travel data and logistic regression.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4872" y="4179569"/>
            <a:ext cx="228594" cy="1943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47763" y="4143375"/>
            <a:ext cx="4067073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Poppins"/>
                <a:rFonts ascii="Poppins" hAnsi="Poppins" eastAsia="Poppins" cs="Poppins"/>
              </a:rPr>
              <a:t>Achieved high accuracy in cancellation prediction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4872" y="4570095"/>
            <a:ext cx="228594" cy="19430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47763" y="4533900"/>
            <a:ext cx="375275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Poppins"/>
                <a:rFonts ascii="Poppins" hAnsi="Poppins" eastAsia="Poppins" cs="Poppins"/>
              </a:rPr>
              <a:t>Identified key factors influencing cancellations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4872" y="4960619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47763" y="4924424"/>
            <a:ext cx="4076598" cy="4857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16" b="0">
                <a:solidFill>
                  <a:srgbClr val="444444"/>
                </a:solidFill>
                <a:latin typeface="Poppins"/>
                <a:rFonts ascii="Poppins" hAnsi="Poppins" eastAsia="Poppins" cs="Poppins"/>
              </a:rPr>
              <a:t>Demonstrated practical applicability in transportation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2" y="1428750"/>
            <a:ext cx="5238619" cy="5057775"/>
          </a:xfrm>
          <a:prstGeom prst="roundRect">
            <a:avLst>
              <a:gd name="adj" fmla="val 7532"/>
            </a:avLst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333" y="1809749"/>
            <a:ext cx="4476638" cy="4000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1950"/>
              </a:spcAft>
            </a:pPr>
            <a:r>
              <a:rPr sz="1674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 </a:t>
            </a:r>
            <a:r>
              <a:rPr sz="1104"/>
              <a:t>  </a:t>
            </a:r>
            <a:r>
              <a:rPr sz="1674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 Project Impact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67333" y="1874346"/>
            <a:ext cx="323841" cy="270856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6667333" y="2495550"/>
            <a:ext cx="4476638" cy="1076325"/>
          </a:xfrm>
          <a:prstGeom prst="roundRect">
            <a:avLst>
              <a:gd name="adj" fmla="val 2123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38779" y="2743200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981650" y="2921842"/>
            <a:ext cx="285742" cy="2332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00759" y="2667000"/>
            <a:ext cx="337176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Revenue Protection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0759" y="3000375"/>
            <a:ext cx="337176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Minimize financial losses from last-minute cancellations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67333" y="3762374"/>
            <a:ext cx="4476638" cy="1076325"/>
          </a:xfrm>
          <a:prstGeom prst="roundRect">
            <a:avLst>
              <a:gd name="adj" fmla="val 2123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38779" y="4019549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981650" y="4173310"/>
            <a:ext cx="285742" cy="24492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600759" y="3933824"/>
            <a:ext cx="337176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Resource Optimization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0759" y="4267199"/>
            <a:ext cx="337176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Improve allocation and reduce operational waste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67333" y="5029200"/>
            <a:ext cx="4476638" cy="1076325"/>
          </a:xfrm>
          <a:prstGeom prst="roundRect">
            <a:avLst>
              <a:gd name="adj" fmla="val 21238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38779" y="5276850"/>
            <a:ext cx="571485" cy="571500"/>
          </a:xfrm>
          <a:prstGeom prst="roundRect">
            <a:avLst>
              <a:gd name="adj" fmla="val 4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981650" y="5493397"/>
            <a:ext cx="285742" cy="15745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600759" y="5200650"/>
            <a:ext cx="337176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Service Enhancement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00759" y="5534025"/>
            <a:ext cx="3371765" cy="4000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365"/>
              </a:lnSpc>
              <a:spcBef>
                <a:spcPts val="0"/>
              </a:spcBef>
              <a:spcAft>
                <a:spcPts val="0"/>
              </a:spcAft>
            </a:pPr>
            <a:r>
              <a:rPr sz="897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Enable proactive customer service and planning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4F8"/>
            </a:gs>
            <a:gs pos="100000">
              <a:srgbClr val="E3EDF7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66CC"/>
              </a:gs>
              <a:gs pos="100000">
                <a:srgbClr val="004C99"/>
              </a:gs>
            </a:gsLst>
            <a:lin scaled="0" ang="81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29114" y="495299"/>
            <a:ext cx="1333466" cy="1333500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5762480" y="903607"/>
            <a:ext cx="666733" cy="5168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85982" y="2209800"/>
            <a:ext cx="6829254" cy="10287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1300"/>
              </a:spcAft>
            </a:pPr>
            <a:r>
              <a:rPr sz="4305" b="1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85982" y="3429000"/>
            <a:ext cx="6829254" cy="3333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900"/>
              </a:spcAft>
            </a:pPr>
            <a:r>
              <a:rPr sz="1435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85982" y="4333875"/>
            <a:ext cx="2047823" cy="609600"/>
          </a:xfrm>
          <a:prstGeom prst="roundRect">
            <a:avLst>
              <a:gd name="adj" fmla="val 15625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3119619" y="4505325"/>
            <a:ext cx="1037679" cy="26669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200519" y="4333875"/>
            <a:ext cx="1781130" cy="609600"/>
          </a:xfrm>
          <a:prstGeom prst="roundRect">
            <a:avLst>
              <a:gd name="adj" fmla="val 15625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602638" y="4505325"/>
            <a:ext cx="834022" cy="26669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67413" y="4333875"/>
            <a:ext cx="2047823" cy="609600"/>
          </a:xfrm>
          <a:prstGeom prst="roundRect">
            <a:avLst>
              <a:gd name="adj" fmla="val 156250"/>
            </a:avLst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7901049" y="4505325"/>
            <a:ext cx="1037679" cy="26669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619609" y="5419725"/>
            <a:ext cx="952476" cy="28575"/>
          </a:xfrm>
          <a:prstGeom prst="rect">
            <a:avLst/>
          </a:prstGeom>
          <a:solidFill>
            <a:srgbClr val="FFFF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85982" y="5734050"/>
            <a:ext cx="682925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Lovely Professional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5982" y="6048375"/>
            <a:ext cx="6829254" cy="2381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520"/>
              </a:spcAft>
            </a:pPr>
            <a:r>
              <a:rPr sz="956" b="0">
                <a:solidFill>
                  <a:srgbClr val="FFFFFF"/>
                </a:solidFill>
                <a:latin typeface="Poppins"/>
                <a:rFonts ascii="Poppins" hAnsi="Poppins" eastAsia="Poppins" cs="Poppins"/>
              </a:rPr>
              <a:t>Predict Passenger Booking Cancellations using 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